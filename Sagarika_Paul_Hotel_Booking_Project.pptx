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Cancelled (62%)</c:v>
                </c:pt>
                <c:pt idx="1">
                  <c:v>Cancelled (38%)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Meal Plan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Meal Plan Bookings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Meal Plan 1</c:v>
                  </c:pt>
                  <c:pt idx="1">
                    <c:v>No Meal Plan</c:v>
                  </c:pt>
                  <c:pt idx="2">
                    <c:v>Meal Plan 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6968</c:v>
                </c:pt>
                <c:pt idx="1">
                  <c:v>1321</c:v>
                </c:pt>
                <c:pt idx="2">
                  <c:v>779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Room Type Distribution (highly skewed)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Room Type Bookings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Type 1</c:v>
                  </c:pt>
                  <c:pt idx="1">
                    <c:v>Type 2</c:v>
                  </c:pt>
                  <c:pt idx="2">
                    <c:v>Type 3</c:v>
                  </c:pt>
                  <c:pt idx="3">
                    <c:v>Type 4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6800</c:v>
                </c:pt>
                <c:pt idx="1">
                  <c:v>700</c:v>
                </c:pt>
                <c:pt idx="2">
                  <c:v>300</c:v>
                </c:pt>
                <c:pt idx="3">
                  <c:v>150</c:v>
                </c:pt>
                <c:pt idx="4">
                  <c:v>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per Room (€)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Cancelled</c:v>
                  </c:pt>
                  <c:pt idx="1">
                    <c:v>Cancelled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106.75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Cancelled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Meal Plan 1</c:v>
                  </c:pt>
                  <c:pt idx="1">
                    <c:v>Meal Plan 2</c:v>
                  </c:pt>
                  <c:pt idx="2">
                    <c:v>Not Selected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4775</c:v>
                </c:pt>
                <c:pt idx="1">
                  <c:v>420</c:v>
                </c:pt>
                <c:pt idx="2">
                  <c:v>902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Meal Plan 1</c:v>
                  </c:pt>
                  <c:pt idx="1">
                    <c:v>Meal Plan 2</c:v>
                  </c:pt>
                  <c:pt idx="2">
                    <c:v>Not Selected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2193</c:v>
                </c:pt>
                <c:pt idx="1">
                  <c:v>359</c:v>
                </c:pt>
                <c:pt idx="2">
                  <c:v>419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Cancelled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Online</c:v>
                  </c:pt>
                  <c:pt idx="1">
                    <c:v>Offline</c:v>
                  </c:pt>
                  <c:pt idx="2">
                    <c:v>Corporate</c:v>
                  </c:pt>
                  <c:pt idx="3">
                    <c:v>Complementary</c:v>
                  </c:pt>
                  <c:pt idx="4">
                    <c:v>Aviation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3785</c:v>
                </c:pt>
                <c:pt idx="1">
                  <c:v>1182</c:v>
                </c:pt>
                <c:pt idx="2">
                  <c:v>96</c:v>
                </c:pt>
                <c:pt idx="3">
                  <c:v>24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Online</c:v>
                  </c:pt>
                  <c:pt idx="1">
                    <c:v>Offline</c:v>
                  </c:pt>
                  <c:pt idx="2">
                    <c:v>Corporate</c:v>
                  </c:pt>
                  <c:pt idx="3">
                    <c:v>Complementary</c:v>
                  </c:pt>
                  <c:pt idx="4">
                    <c:v>Aviation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2103</c:v>
                </c:pt>
                <c:pt idx="1">
                  <c:v>756</c:v>
                </c:pt>
                <c:pt idx="2">
                  <c:v>50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Lead Time</c:v>
                  </c:pt>
                  <c:pt idx="1">
                    <c:v>Avg Price/Room</c:v>
                  </c:pt>
                  <c:pt idx="2">
                    <c:v>Arrival Month</c:v>
                  </c:pt>
                  <c:pt idx="3">
                    <c:v>Booking Changes</c:v>
                  </c:pt>
                  <c:pt idx="4">
                    <c:v>Deposit Type</c:v>
                  </c:pt>
                  <c:pt idx="5">
                    <c:v>Market Segment</c:v>
                  </c:pt>
                  <c:pt idx="6">
                    <c:v>Prev Cancellations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0.38</c:v>
                </c:pt>
                <c:pt idx="1">
                  <c:v>0.22</c:v>
                </c:pt>
                <c:pt idx="2">
                  <c:v>0.15</c:v>
                </c:pt>
                <c:pt idx="3">
                  <c:v>0.09</c:v>
                </c:pt>
                <c:pt idx="4">
                  <c:v>0.07</c:v>
                </c:pt>
                <c:pt idx="5">
                  <c:v>0.05</c:v>
                </c:pt>
                <c:pt idx="6">
                  <c:v>0.04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162C56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Prediction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Risk Classification &amp; Business Decision Support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511296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Sagarika Paul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Analytics Project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/ Agenda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80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097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4630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&amp; recommendations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21408"/>
            <a:ext cx="50292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957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2128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Solution Approach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5786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 Hotels Group — ML methodology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36976"/>
            <a:ext cx="50292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112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3284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69417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&amp; key patterns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005840"/>
            <a:ext cx="50292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280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1097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4630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cleaning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121408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121408"/>
            <a:ext cx="50292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957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22128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Summary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5786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vs Random Forest comparison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236976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236976"/>
            <a:ext cx="50292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112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3284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69417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definitions, model details, confusion matrices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Actionable Insights &amp;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1 &amp;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058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Focus on High-Risk Bookings Early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monitoring bookings with high lead time — these show significantly higher cancellation probability. Flag for early confirmation or targeted follow-up.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03120"/>
            <a:ext cx="640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579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Strengthen Pricing &amp; Deposit Strategy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with lower commitment (no deposit / refundable) are more likely to cancel. Recommend partial advance payment for high-risk segments and flexible cancellation policies with conditions.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levers address the highest-volume cancellation drivers identified in EDA.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Actionable Insights &amp;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3 &amp;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058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Use Seasonal Demand Patterns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month significantly impacts cancellations. Identify high-cancellation months → tighten booking policies. Peak months → optimise pricing and inventory allocation.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03120"/>
            <a:ext cx="640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579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Improve Room Allocation Strategy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predicted cancellation probability to avoid over-blocking premium rooms unnecessarily, implement controlled overbooking strategy, and improve occupancy rate management.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Actionable Insights &amp;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5 &amp;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058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607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Implement Early Warning 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Decision Tree model for real-time scoring. Classify bookings into Low / Medium / High risk. Trigger automated alerts for high-risk bookings to enable proactive intervention.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05840"/>
            <a:ext cx="640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607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Operational Efficiency Recommendation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3167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Decision Tree due to fast execution, easy interpretability, real-time deployment suitability, and ease of integration into hotel booking systems.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148840"/>
            <a:ext cx="8412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12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Recommendation 7: Continuous Monitoring &amp; Improvement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487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retrain model with new booking data. Monitor changes in customer behaviour, seasonal trends, and market segment patterns.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Final Insight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377440"/>
          </a:xfrm>
          <a:prstGeom prst="rect">
            <a:avLst/>
          </a:prstGeom>
          <a:solidFill>
            <a:srgbClr val="162C5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7160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"Combining predictive modelling with operational decision-making enables hotels to proactively manage cancellations, optimise occupancy, and improve revenue stability."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Project Final Insight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Overview &amp; Solution Approach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298448"/>
            <a:ext cx="8046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 Hotels Group is facing high revenue loss due to frequent booking cancellations and no-shows. The objective is to develop an ML model that predicts the likelihood of a booking being cancelled in advance, by analysing customer behaviour, booking patterns, and relevant features — enabling the hotel to take proactive action.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060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609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🌳 Tree-Based ML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9169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Decision Trees and Random Forest to predict cancellation probability based on historical booking data and customer attributes.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606040"/>
            <a:ext cx="640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6609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📊 Insight Generation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9169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model outputs to identify key factors influencing cancellations and support the design of data-driven policies for pricing, refunds, and cancellation strategies.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— ML Pipeline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50876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1325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57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83080" y="192024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234440"/>
            <a:ext cx="1508760" cy="137160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325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03120" y="1984248"/>
            <a:ext cx="1325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057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20440" y="192024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234440"/>
            <a:ext cx="150876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325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1984248"/>
            <a:ext cx="1325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057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57800" y="192024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234440"/>
            <a:ext cx="15087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325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1984248"/>
            <a:ext cx="1325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057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95160" y="192024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234440"/>
            <a:ext cx="1508760" cy="1371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325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0" y="1984248"/>
            <a:ext cx="1325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057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into the next — EDA informs preprocessing decisions, which directly affect model quality and final business recommendations.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" y="3383280"/>
            <a:ext cx="18288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3383280"/>
            <a:ext cx="1828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9,069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26080" y="3383280"/>
            <a:ext cx="18288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0" y="3383280"/>
            <a:ext cx="1828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92608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20640" y="3383280"/>
            <a:ext cx="18288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3383280"/>
            <a:ext cx="1828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1206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132320" y="3383280"/>
            <a:ext cx="18288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0" y="3383280"/>
            <a:ext cx="1828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84.45%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13232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Dataset 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9202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9,069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005840"/>
            <a:ext cx="19202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0058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19202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005840"/>
            <a:ext cx="1920240" cy="6400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35–38%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1005840"/>
            <a:ext cx="19202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0058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62–65%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4088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148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Distribution — Key Business Implication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2468880"/>
          <a:ext cx="3657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297680" y="24688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97680" y="278892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proportion of confirmed bookings (~62–65%) indicates most customers honour their reservations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cancellation rate (~35–38%) represents a major revenue risk for the hotel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 one-third of bookings being cancelled, there is a strong business need for predictive modelling and proactive strategies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Key Feature Distributions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6012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54880" y="96012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32918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65760" y="3547872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 1 dominates (~77% of bookings) — most popular and reliable choice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97% of bookings do not require car parking — low parking demand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1 accounts for ~75–80% of all bookings — highly skewed demand (long-tail distribution)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Average Room Price vs Booking Status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9601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for Cancelled bookings (€106.75) is higher than Not Cancelled (€95)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paying higher prices tend to cancel more frequently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price sensitivity or flexibility in premium bookings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2834640"/>
            <a:ext cx="41148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28346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28895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Implication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92040" y="314553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should consider stricter cancellation policies, partial prepayments, or dynamic pricing for higher-priced rooms to reduce cancellation risk in the premium segment.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Business Insights: Meal Plan vs Booking Status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9601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515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 Plan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 Plan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Selected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2560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 2 has the highest cancellation rate (~46%) — nearly half of all bookings cancel. Meal Plan 1 is the most reliable with the lowest rate (~31.5%).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65760" y="37947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65760" y="404164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Meal Plan 1 — highest demand, lowest cancellation rate; continue to optimise and promote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Meal Plan 2 — investigate root cause of ~46% cancellation rate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meal plan selection upfront — "Not Selected" customers show higher cancellation tendency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Booking Status by Market Segment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96012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943600" y="1005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Analysis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0" y="13258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channel drives highest volume (~64%) AND highest cancellations (~2,103)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cancellation rate: ~36%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channel: more loyal, lower cancel rate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and Aviation segments are very small but reliable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429768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429768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3525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Implication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460857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is the primary revenue channel AND the main source of cancellations. Even small improvements in this channel (stricter policies, partial prepayment, reminders) can have a significant impact on overall revenue stability.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— Multivariate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64008" cy="67665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149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051560"/>
            <a:ext cx="1371600" cy="201168"/>
          </a:xfrm>
          <a:prstGeom prst="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051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↑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0" y="100584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lead time → higher cancellation probability. Indicates booking uncertainty over longer durations.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709928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09928"/>
            <a:ext cx="64008" cy="67665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64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per Room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1801368"/>
            <a:ext cx="1371600" cy="201168"/>
          </a:xfrm>
          <a:prstGeom prst="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801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0" y="1755648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Higher-priced bookings tend to have higher cancellation likelihood. Reflects price sensitivity.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459736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459736"/>
            <a:ext cx="64008" cy="676656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14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Cancellations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2551176"/>
            <a:ext cx="1371600" cy="201168"/>
          </a:xfrm>
          <a:prstGeom prst="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↑↑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06240" y="2505456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past cancellations are much more likely to cancel again. Key behavioural predictor.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9544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09544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644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Guest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3300984"/>
            <a:ext cx="1371600" cy="201168"/>
          </a:xfrm>
          <a:prstGeom prst="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300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06240" y="3255264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are less likely to cancel — indicates higher commitment and loyalty.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959352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959352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014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Special Requests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97480" y="4050792"/>
            <a:ext cx="1371600" cy="201168"/>
          </a:xfrm>
          <a:prstGeom prst="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97480" y="4050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06240" y="400507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engaged customers (special requests) show lower cancellation tendency — higher investment in stay.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Business Insight: Cancellation behaviour is influenced by a combination of booking timing (lead time), pricing sensitivity, and customer history — not any single factor.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Summary — All Models Compared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280160"/>
                <a:gridCol w="1280160"/>
                <a:gridCol w="109728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(Unpruned)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(Pruned)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(Unpruned)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(Pruned)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743200"/>
            <a:ext cx="84124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834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Rationale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31546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315468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Decision Tree Pruned Selected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358444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performance vs generalisation. Stable predictions on unseen data. Avoids overfitting seen in unpruned model.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72968" y="31546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72968" y="3154680"/>
            <a:ext cx="2651760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64408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Decision Tree Unpruned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264408" y="358444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recall but shows overfitting (large train–test gap). Less reliable for real-world data.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80176" y="31546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80176" y="3154680"/>
            <a:ext cx="265176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71616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Random Forest Pruned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71616" y="358444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precision but lowest recall — misses high-risk cancellations. Higher complexity without sufficient benefit.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— Decision Tree (Pruned): Performance &amp; Business Value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9202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9202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005840"/>
            <a:ext cx="192024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73.06%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Recall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202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058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78.06%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Precision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19202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005840"/>
            <a:ext cx="1920240" cy="640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Controlled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0116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Decision Tree (Pruned) is the Final Choice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3774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4323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High Interpretability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26883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rules are easily explainable to business users — hotel managers can understand and trust the model's predictions.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37744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377440"/>
            <a:ext cx="640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4323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 &amp; Low-Cost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6883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training and prediction time. Low computational cost suitable for real-time hotel booking systems.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47472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52958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Stable Performance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378561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~84–85% accuracy. Smaller train–test gap vs Random Forest indicates better generalisation.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474720"/>
            <a:ext cx="640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52958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Deployment-Ready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78561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structure enables easy integration into hotel booking platforms for real-time cancellation risk scoring.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 of Hotel Booking Cancellation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96012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212080" y="100584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12080" y="1005840"/>
            <a:ext cx="50292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1280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06440" y="107899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06440" y="1371600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predictor. Longer lead time → higher cancellation probability. Root node in Decision Tree.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212080" y="2084832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12080" y="2084832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23591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06440" y="215798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per Room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06440" y="2450592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 → higher cancellation. Reflects customer sensitivity to pricing changes.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212080" y="3163824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3163824"/>
            <a:ext cx="502920" cy="9601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343814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806440" y="323697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Month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06440" y="3529584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effect on cancellations — peak vs off-season behaviour differences.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Insight: The model is primarily driven by time-based behaviour (lead time + arrival month) and price sensitivity — which together strongly influence cancellation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 — 3-Tier Classification Framework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1097280" cy="9601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078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 probability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1188720"/>
            <a:ext cx="0" cy="594360"/>
          </a:xfrm>
          <a:prstGeom prst="line">
            <a:avLst/>
          </a:prstGeom>
          <a:noFill/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18872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Maintain booking, no intervention needed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84124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03120"/>
            <a:ext cx="1097280" cy="9601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23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2176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– 75% probability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2286000"/>
            <a:ext cx="0" cy="594360"/>
          </a:xfrm>
          <a:prstGeom prst="line">
            <a:avLst/>
          </a:prstGeom>
          <a:noFill/>
          <a:ln w="12700">
            <a:solidFill>
              <a:srgbClr val="9240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28600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Send email/SMS reminders, offer limited incentives to retain booking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841248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00400"/>
            <a:ext cx="1097280" cy="9601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0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75% probability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31920" y="3383280"/>
            <a:ext cx="0" cy="594360"/>
          </a:xfrm>
          <a:prstGeom prst="line">
            <a:avLst/>
          </a:prstGeom>
          <a:noFill/>
          <a:ln w="1270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38328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Trigger reconfirmation calls, partial prepayment request, controlled overbooking buffer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Impact: Reduction in cancellation rate  |  Improved occupancy planning  |  Better revenue predictability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 &amp; Business Outcome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406908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(Pruned) selected as best model for deployment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84.45% | Test Recall: 73.06%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accuracy, interpretability, and efficiency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transparent, and explainable to business stakeholders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real-time deployment due to low latency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406908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01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accuracy reduction vs Random Forest (~2–3% gap)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gain in speed, simplicity, and interpretability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computational cost and faster retraining cycles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960120"/>
            <a:ext cx="40690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875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3258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early identification of potential cancellations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hotels optimise room allocation strategy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revenue management decisions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overbooking planning with confidence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interpretable decision-making in operational systems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3383280"/>
            <a:ext cx="40690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438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3712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(Pruned) provides a strong balance between predictive performance, interpretability, and efficiency. The marginal accuracy gain from Random Forest does not justify increased complexity. DT is more suitable for real-world deployment where transparency and speed are critical.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Definitions  •  Model Details  •  Confusion Matrices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Data Dictionary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486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no_of_adults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adults in the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no_of_children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children in the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no_of_weekend_nights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nights (Sat &amp; Sun) 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no_of_week_nights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Weeknights (Mon–Fri) 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type_of_meal_plan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meal plan chosen by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required_car_parking_space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booking require car parking?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room_type_reserved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type reserved (values ciphered by hotel)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lead_time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between booking date and arrival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arrival_year / month /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month, and date of arrival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market_segment_type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segment designation (Online, Offline, etc.)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repeated_guest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customer a repeated guest?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no_of_previous_cancellations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prior bookings cancelled by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avg_price_per_room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daily room price in euros (dynamic)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no_of_special_requests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special requests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variable: Cancelled or Not_Cancelled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Decision Tree (Without Pruning): Results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criteria: Gini Index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depth: 10 (no pruning)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node: Lead Time (most important feature)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variables: Lead Time, Avg Price per Room, Arrival Month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training accuracy (90.23%) drops to 84.74% on test data — indicates mild overfitting. Recall (~76%) is moderate; some cancellations are missed.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3444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663440" y="2423160"/>
            <a:ext cx="41148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Gap (Accuracy): 90.23 − 84.74 = 5.49% → mild overfitting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Decision Tree (With Pruning): Results ✅ Final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Selected as Final Deployment Model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3444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2816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Gap (Accuracy): 86.94 − 84.45 = 2.49% → well-controlled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54880" y="1005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Pruning Works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54880" y="129844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by limiting tree depth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lower training accuracy is acceptable trade-off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and reliable on unseen real-world data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recall stability across train and test sets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model generalises better — more trustworthy for deployment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320040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20040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2552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Comparing Pruned vs Unpruned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35112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perform similarly on test accuracy (~84–85%). Pruned model shows better recall on unseen data, reduced overfitting, and more stable performance. The small recall trade-off is worth the significant gain in generalisation.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Random Forest: Both Variants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(Without Pruning)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3444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2697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Large train–test gap (~10%): strong overfitting. Captures complex patterns but also noise.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5488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(With Pruning)</a:t>
            </a:r>
            <a:endParaRPr lang="en-US" sz="10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754880" y="26974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complexity — better generalisation but low recall (66%) misses too many high-risk cancellations.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" y="324612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3246120"/>
            <a:ext cx="640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3009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Random Forest Was Not Selected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2920" y="3557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achieving the highest precision (84.77%), Random Forest Pruned's recall of 66.22% means 1 in 3 actual cancellations are missed — unacceptable for a cancellation detection system. Decision Tree Pruned's 73% recall is significantly better for this use case.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Cancellation Prediction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Analytics Project  |  April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329184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520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sagarika.paul21@gmail.com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38679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linkedin.com/in/sagarika-paul-experiencedbanker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42153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github.com/sagarikapaul21-sys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Paul  |  Hotel Booking Cancellation Prediction  |  Sagarika Paul — Personal Project (2026)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 Prediction</dc:title>
  <dc:subject>PptxGenJS Presentation</dc:subject>
  <dc:creator>Sagarika Paul</dc:creator>
  <cp:lastModifiedBy>Sagarika Paul</cp:lastModifiedBy>
  <cp:revision>1</cp:revision>
  <dcterms:created xsi:type="dcterms:W3CDTF">2026-05-08T02:18:42Z</dcterms:created>
  <dcterms:modified xsi:type="dcterms:W3CDTF">2026-05-08T02:18:42Z</dcterms:modified>
</cp:coreProperties>
</file>